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D70B8"/>
                </a:solidFill>
                <a:latin typeface="Arial"/>
              </a:defRPr>
            </a:pPr>
            <a:r>
              <a:t>SMART INDIA HACKATHON 2026</a:t>
            </a:r>
          </a:p>
          <a:p>
            <a:pPr algn="ctr">
              <a:defRPr sz="1800" b="1">
                <a:solidFill>
                  <a:srgbClr val="0F2140"/>
                </a:solidFill>
                <a:latin typeface="Arial"/>
              </a:defRPr>
            </a:pPr>
            <a:r>
              <a:t>TITLE PAGE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25880"/>
            <a:ext cx="1036289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50876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b="1" sz="1400">
                <a:solidFill>
                  <a:srgbClr val="1D70B8"/>
                </a:solidFill>
                <a:latin typeface="Arial"/>
              </a:rPr>
              <a:t>• Problem Statement ID – </a:t>
            </a:r>
            <a:r>
              <a:rPr b="0" sz="1400">
                <a:solidFill>
                  <a:srgbClr val="0F172A"/>
                </a:solidFill>
                <a:latin typeface="Arial"/>
              </a:rPr>
              <a:t>[Enter Problem Statement ID / Student Innovation]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b="1" sz="1400">
                <a:solidFill>
                  <a:srgbClr val="1D70B8"/>
                </a:solidFill>
                <a:latin typeface="Arial"/>
              </a:rPr>
              <a:t>• Problem Statement Title – </a:t>
            </a:r>
            <a:r>
              <a:rPr b="0" sz="1400">
                <a:solidFill>
                  <a:srgbClr val="0F172A"/>
                </a:solidFill>
                <a:latin typeface="Arial"/>
              </a:rPr>
              <a:t>AI-Powered Pre-Consultation Clinical Intake, OPD Triage &amp; ABDM Health Kiosk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b="1" sz="1400">
                <a:solidFill>
                  <a:srgbClr val="1D70B8"/>
                </a:solidFill>
                <a:latin typeface="Arial"/>
              </a:rPr>
              <a:t>• Theme – </a:t>
            </a:r>
            <a:r>
              <a:rPr b="0" sz="1400">
                <a:solidFill>
                  <a:srgbClr val="0F172A"/>
                </a:solidFill>
                <a:latin typeface="Arial"/>
              </a:rPr>
              <a:t>MedTech / Healthcare / Smart Health &amp; AYUSH Integration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b="1" sz="1400">
                <a:solidFill>
                  <a:srgbClr val="1D70B8"/>
                </a:solidFill>
                <a:latin typeface="Arial"/>
              </a:rPr>
              <a:t>• PS Category – </a:t>
            </a:r>
            <a:r>
              <a:rPr b="0" sz="1400">
                <a:solidFill>
                  <a:srgbClr val="0F172A"/>
                </a:solidFill>
                <a:latin typeface="Arial"/>
              </a:rPr>
              <a:t>Software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b="1" sz="1400">
                <a:solidFill>
                  <a:srgbClr val="1D70B8"/>
                </a:solidFill>
                <a:latin typeface="Arial"/>
              </a:rPr>
              <a:t>• Team ID – </a:t>
            </a:r>
            <a:r>
              <a:rPr b="0" sz="1400">
                <a:solidFill>
                  <a:srgbClr val="0F172A"/>
                </a:solidFill>
                <a:latin typeface="Arial"/>
              </a:rPr>
              <a:t>[Enter Team ID from SIH Portal]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b="1" sz="1400">
                <a:solidFill>
                  <a:srgbClr val="1D70B8"/>
                </a:solidFill>
                <a:latin typeface="Arial"/>
              </a:rPr>
              <a:t>• Team Name (Registered on portal) – </a:t>
            </a:r>
            <a:r>
              <a:rPr b="1" sz="1400">
                <a:solidFill>
                  <a:srgbClr val="0F2140"/>
                </a:solidFill>
                <a:latin typeface="Arial"/>
              </a:rPr>
              <a:t>Codestreaker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b="1" sz="1400">
                <a:solidFill>
                  <a:srgbClr val="1D70B8"/>
                </a:solidFill>
                <a:latin typeface="Arial"/>
              </a:rPr>
              <a:t>• Project Name – </a:t>
            </a:r>
            <a:r>
              <a:rPr b="1" sz="1400">
                <a:solidFill>
                  <a:srgbClr val="00A884"/>
                </a:solidFill>
                <a:latin typeface="Arial"/>
              </a:rPr>
              <a:t>Ayush Setu (आयुष सेतु) — Pre-Consultation Clinical Intelligence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64592"/>
            <a:ext cx="201168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2140"/>
                </a:solidFill>
                <a:latin typeface="Arial"/>
              </a:defRPr>
            </a:pPr>
            <a:r>
              <a:t>Codestreaker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137160"/>
            <a:ext cx="2194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D70B8"/>
                </a:solidFill>
                <a:latin typeface="Arial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37160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F2140"/>
                </a:solidFill>
                <a:latin typeface="Arial"/>
              </a:defRPr>
            </a:pPr>
            <a:r>
              <a:t>IDEA TITLE : AYUSH SETU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D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7680960" cy="1371600"/>
          </a:xfrm>
          <a:prstGeom prst="roundRect">
            <a:avLst/>
          </a:prstGeom>
          <a:solidFill>
            <a:srgbClr val="1E5096"/>
          </a:solidFill>
          <a:ln>
            <a:solidFill>
              <a:srgbClr val="0F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FFFFFF"/>
                </a:solidFill>
              </a:rPr>
              <a:t>Proposed Solution : </a:t>
            </a:r>
            <a:r>
              <a:rPr sz="950">
                <a:solidFill>
                  <a:srgbClr val="FFFFFF"/>
                </a:solidFill>
              </a:rPr>
              <a:t>Our solution, "Ayush Setu" is an AI-powered pre-consultation clinical intake and triage platform that collects patient symptoms, history of present illness (HPI), and basic health information before meeting the doctor. The approach integrates multi-lingual clinical NLP with modern web technologies to eliminate OPD wait times and provide structured patient briefings to physicians beforehand.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914400"/>
            <a:ext cx="3566160" cy="411480"/>
          </a:xfrm>
          <a:prstGeom prst="roundRect">
            <a:avLst/>
          </a:prstGeom>
          <a:solidFill>
            <a:srgbClr val="32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FEATURES MAKES IT UNIQUE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371600"/>
            <a:ext cx="35661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b="1" sz="850">
                <a:solidFill>
                  <a:srgbClr val="1D70B8"/>
                </a:solidFill>
              </a:rPr>
              <a:t>o Multilingual Voice &amp; Text : </a:t>
            </a:r>
            <a:r>
              <a:rPr sz="800">
                <a:solidFill>
                  <a:srgbClr val="0F172A"/>
                </a:solidFill>
              </a:rPr>
              <a:t>Conversational symptom intake across 8 Indian languages (Hindi, Tamil, Marathi, etc.) with speech audio guidance.</a:t>
            </a:r>
          </a:p>
          <a:p>
            <a:pPr>
              <a:spcAft>
                <a:spcPts val="600"/>
              </a:spcAft>
            </a:pPr>
            <a:r>
              <a:rPr b="1" sz="850">
                <a:solidFill>
                  <a:srgbClr val="1D70B8"/>
                </a:solidFill>
              </a:rPr>
              <a:t>o Dual Allopathy + AYUSH : </a:t>
            </a:r>
            <a:r>
              <a:rPr sz="800">
                <a:solidFill>
                  <a:srgbClr val="0F172A"/>
                </a:solidFill>
              </a:rPr>
              <a:t>Integrates modern clinical history taking with traditional AYUSH Dashavidha Pariksha assessment.</a:t>
            </a:r>
          </a:p>
          <a:p>
            <a:pPr>
              <a:spcAft>
                <a:spcPts val="600"/>
              </a:spcAft>
            </a:pPr>
            <a:r>
              <a:rPr b="1" sz="850">
                <a:solidFill>
                  <a:srgbClr val="1D70B8"/>
                </a:solidFill>
              </a:rPr>
              <a:t>o ABDM / ABHA M1 Ready : </a:t>
            </a:r>
            <a:r>
              <a:rPr sz="800">
                <a:solidFill>
                  <a:srgbClr val="0F172A"/>
                </a:solidFill>
              </a:rPr>
              <a:t>14-digit ABHA ID &amp; PHR handle verification with DPDP Act 2023 digital consent readout.</a:t>
            </a:r>
          </a:p>
          <a:p>
            <a:pPr>
              <a:spcAft>
                <a:spcPts val="600"/>
              </a:spcAft>
            </a:pPr>
            <a:r>
              <a:rPr b="1" sz="850">
                <a:solidFill>
                  <a:srgbClr val="1D70B8"/>
                </a:solidFill>
              </a:rPr>
              <a:t>o Instant Red-Flag Alerting : </a:t>
            </a:r>
            <a:r>
              <a:rPr sz="800">
                <a:solidFill>
                  <a:srgbClr val="0F172A"/>
                </a:solidFill>
              </a:rPr>
              <a:t>Automatic detection and high-priority escalation of critical emergency symptoms.</a:t>
            </a:r>
          </a:p>
          <a:p>
            <a:pPr>
              <a:spcAft>
                <a:spcPts val="600"/>
              </a:spcAft>
            </a:pPr>
            <a:r>
              <a:rPr b="1" sz="850">
                <a:solidFill>
                  <a:srgbClr val="1D70B8"/>
                </a:solidFill>
              </a:rPr>
              <a:t>o Standardized FHIR R4 : </a:t>
            </a:r>
            <a:r>
              <a:rPr sz="800">
                <a:solidFill>
                  <a:srgbClr val="0F172A"/>
                </a:solidFill>
              </a:rPr>
              <a:t>Generates structured HL7 FHIR R4 JSON clinical summaries for instant hospital EMR sharing.</a:t>
            </a:r>
          </a:p>
          <a:p>
            <a:pPr>
              <a:spcAft>
                <a:spcPts val="600"/>
              </a:spcAft>
            </a:pPr>
            <a:r>
              <a:rPr b="1" sz="850">
                <a:solidFill>
                  <a:srgbClr val="1D70B8"/>
                </a:solidFill>
              </a:rPr>
              <a:t>o High Social &amp; OPD Impact : </a:t>
            </a:r>
            <a:r>
              <a:rPr sz="800">
                <a:solidFill>
                  <a:srgbClr val="0F172A"/>
                </a:solidFill>
              </a:rPr>
              <a:t>Cuts physician onboarding time by 60%, reducing hospital crowding and patient anxiety.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423160"/>
            <a:ext cx="1444752" cy="173736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850">
                <a:solidFill>
                  <a:srgbClr val="0F2140"/>
                </a:solidFill>
              </a:defRPr>
            </a:pPr>
            <a:r>
              <a:t>Adaptive Triage Engine</a:t>
            </a:r>
          </a:p>
          <a:p>
            <a:pPr algn="ctr">
              <a:defRPr sz="750">
                <a:solidFill>
                  <a:srgbClr val="64748B"/>
                </a:solidFill>
              </a:defRPr>
            </a:pPr>
            <a:r>
              <a:t>Sequential clinical questioning dynamically adapts based on patient symptoms.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2423160"/>
            <a:ext cx="1444752" cy="1737360"/>
          </a:xfrm>
          <a:prstGeom prst="roundRect">
            <a:avLst/>
          </a:prstGeom>
          <a:solidFill>
            <a:srgbClr val="E6FAF5"/>
          </a:solidFill>
          <a:ln w="1524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850">
                <a:solidFill>
                  <a:srgbClr val="0F2140"/>
                </a:solidFill>
              </a:defRPr>
            </a:pPr>
            <a:r>
              <a:t>Document OCR &amp; Vitals</a:t>
            </a:r>
          </a:p>
          <a:p>
            <a:pPr algn="ctr">
              <a:defRPr sz="750">
                <a:solidFill>
                  <a:srgbClr val="64748B"/>
                </a:solidFill>
              </a:defRPr>
            </a:pPr>
            <a:r>
              <a:t>Scans &amp; digitizes prior paper prescriptions and links with ABHA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423160"/>
            <a:ext cx="1444752" cy="173736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850">
                <a:solidFill>
                  <a:srgbClr val="0F2140"/>
                </a:solidFill>
              </a:defRPr>
            </a:pPr>
            <a:r>
              <a:t>Web Platform &amp; Kiosk</a:t>
            </a:r>
          </a:p>
          <a:p>
            <a:pPr algn="ctr">
              <a:defRPr sz="750">
                <a:solidFill>
                  <a:srgbClr val="64748B"/>
                </a:solidFill>
              </a:defRPr>
            </a:pPr>
            <a:r>
              <a:t>React.js frontend and Node.js backend for simple, accessible touch kiosk intake.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423160"/>
            <a:ext cx="1444752" cy="1737360"/>
          </a:xfrm>
          <a:prstGeom prst="roundRect">
            <a:avLst/>
          </a:prstGeom>
          <a:solidFill>
            <a:srgbClr val="E6FAF5"/>
          </a:solidFill>
          <a:ln w="1524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850">
                <a:solidFill>
                  <a:srgbClr val="0F2140"/>
                </a:solidFill>
              </a:defRPr>
            </a:pPr>
            <a:r>
              <a:t>Secure Data Handling</a:t>
            </a:r>
          </a:p>
          <a:p>
            <a:pPr algn="ctr">
              <a:defRPr sz="750">
                <a:solidFill>
                  <a:srgbClr val="64748B"/>
                </a:solidFill>
              </a:defRPr>
            </a:pPr>
            <a:r>
              <a:t>SHA-256 OTP hashing &amp; DPDP Act 2023 informed consent audit trails.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423160"/>
            <a:ext cx="1444752" cy="173736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850">
                <a:solidFill>
                  <a:srgbClr val="0F2140"/>
                </a:solidFill>
              </a:defRPr>
            </a:pPr>
            <a:r>
              <a:t>Doctor EMR Briefing</a:t>
            </a:r>
          </a:p>
          <a:p>
            <a:pPr algn="ctr">
              <a:defRPr sz="750">
                <a:solidFill>
                  <a:srgbClr val="64748B"/>
                </a:solidFill>
              </a:defRPr>
            </a:pPr>
            <a:r>
              <a:t>Delivers structured clinical summary to doctor's screen before consultation.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572000"/>
            <a:ext cx="1463040" cy="1371600"/>
          </a:xfrm>
          <a:prstGeom prst="roundRect">
            <a:avLst/>
          </a:prstGeom>
          <a:solidFill>
            <a:srgbClr val="1E5096"/>
          </a:solidFill>
          <a:ln>
            <a:solidFill>
              <a:srgbClr val="0F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HOW IT</a:t>
            </a:r>
            <a:br/>
            <a:r>
              <a:t>ADDRESSES</a:t>
            </a:r>
            <a:br/>
            <a:r>
              <a:t>THE PROBLEM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65960" y="4297680"/>
            <a:ext cx="2834640" cy="91440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1D70B8"/>
                </a:solidFill>
              </a:rPr>
              <a:t>Consultation Optimization : </a:t>
            </a:r>
            <a:r>
              <a:rPr sz="750">
                <a:solidFill>
                  <a:srgbClr val="0F172A"/>
                </a:solidFill>
              </a:rPr>
              <a:t>Pre-intake cuts routine history taking by 60%, reducing doctor consultation delays.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4297680"/>
            <a:ext cx="3063240" cy="91440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1D70B8"/>
                </a:solidFill>
              </a:rPr>
              <a:t>Context Availability : </a:t>
            </a:r>
            <a:r>
              <a:rPr sz="750">
                <a:solidFill>
                  <a:srgbClr val="0F172A"/>
                </a:solidFill>
              </a:rPr>
              <a:t>Structured HPI, vitals &amp; prior prescriptions presented upfront with zero missing history.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65960" y="5349240"/>
            <a:ext cx="2834640" cy="91440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1D70B8"/>
                </a:solidFill>
              </a:rPr>
              <a:t>Accessibility &amp; Inclusivity : </a:t>
            </a:r>
            <a:r>
              <a:rPr sz="750">
                <a:solidFill>
                  <a:srgbClr val="0F172A"/>
                </a:solidFill>
              </a:rPr>
              <a:t>Simple, patient-friendly kiosk with 8 Indian languages and voice-guided intake.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83480" y="5349240"/>
            <a:ext cx="3063240" cy="91440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1D70B8"/>
                </a:solidFill>
              </a:rPr>
              <a:t>Physician Empowerment : </a:t>
            </a:r>
            <a:r>
              <a:rPr sz="750">
                <a:solidFill>
                  <a:srgbClr val="0F172A"/>
                </a:solidFill>
              </a:rPr>
              <a:t>Reduces doctor documentation burnout, enabling 100% focus on diagnosis &amp; care.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64592"/>
            <a:ext cx="201168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2140"/>
                </a:solidFill>
                <a:latin typeface="Arial"/>
              </a:defRPr>
            </a:pPr>
            <a:r>
              <a:t>Codestreaker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137160"/>
            <a:ext cx="2194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D70B8"/>
                </a:solidFill>
                <a:latin typeface="Arial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37160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F2140"/>
                </a:solidFill>
                <a:latin typeface="Arial"/>
              </a:defRPr>
            </a:pPr>
            <a:r>
              <a:t>TECHNICAL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D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777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F2140"/>
                </a:solidFill>
              </a:defRPr>
            </a:pPr>
            <a:r>
              <a:t>Developing AI for Clinical Intake &amp; Triage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34747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b="1" sz="800">
                <a:solidFill>
                  <a:srgbClr val="1D70B8"/>
                </a:solidFill>
              </a:rPr>
              <a:t>• React.js &amp; Vite : </a:t>
            </a:r>
            <a:r>
              <a:rPr sz="750">
                <a:solidFill>
                  <a:srgbClr val="0F172A"/>
                </a:solidFill>
              </a:rPr>
              <a:t>Building an interactive, responsive kiosk and doctor portal with accessible glassmorphism UI.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1D70B8"/>
                </a:solidFill>
              </a:rPr>
              <a:t>• Web Speech &amp; Audio : </a:t>
            </a:r>
            <a:r>
              <a:rPr sz="750">
                <a:solidFill>
                  <a:srgbClr val="0F172A"/>
                </a:solidFill>
              </a:rPr>
              <a:t>SpeechSynthesis for voice consent audio in 8 Indian languages + kiosk audio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325880"/>
            <a:ext cx="2011680" cy="5029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2140"/>
                </a:solidFill>
              </a:defRPr>
            </a:pPr>
            <a:r>
              <a:t>FRONTEND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34747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b="1" sz="800">
                <a:solidFill>
                  <a:srgbClr val="1D70B8"/>
                </a:solidFill>
              </a:rPr>
              <a:t>• Node.js / Express.js : </a:t>
            </a:r>
            <a:r>
              <a:rPr sz="750">
                <a:solidFill>
                  <a:srgbClr val="0F172A"/>
                </a:solidFill>
              </a:rPr>
              <a:t>Backend server for clinical interview orchestration and REST API endpoints.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1D70B8"/>
                </a:solidFill>
              </a:rPr>
              <a:t>• In-Memory Session Cache : </a:t>
            </a:r>
            <a:r>
              <a:rPr sz="750">
                <a:solidFill>
                  <a:srgbClr val="0F172A"/>
                </a:solidFill>
              </a:rPr>
              <a:t>UUID session context store (`sessions.ts`) with &lt;50ms response latency.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1D70B8"/>
                </a:solidFill>
              </a:rPr>
              <a:t>• REST APIs &amp; JSON : </a:t>
            </a:r>
            <a:r>
              <a:rPr sz="750">
                <a:solidFill>
                  <a:srgbClr val="0F172A"/>
                </a:solidFill>
              </a:rPr>
              <a:t>Seamless communication between client, backend, and clinical engine.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606040"/>
            <a:ext cx="2011680" cy="50292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2140"/>
                </a:solidFill>
              </a:defRPr>
            </a:pPr>
            <a:r>
              <a:t>BACKEND / API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66160"/>
            <a:ext cx="34747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b="1" sz="800">
                <a:solidFill>
                  <a:srgbClr val="1D70B8"/>
                </a:solidFill>
              </a:rPr>
              <a:t>• Google Gemini AI / NLP : </a:t>
            </a:r>
            <a:r>
              <a:rPr sz="750">
                <a:solidFill>
                  <a:srgbClr val="0F172A"/>
                </a:solidFill>
              </a:rPr>
              <a:t>Conversational clinical triage with deterministic rules across 8 Indic languages.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1D70B8"/>
                </a:solidFill>
              </a:rPr>
              <a:t>• HL7 FHIR R4 Bundle : </a:t>
            </a:r>
            <a:r>
              <a:rPr sz="750">
                <a:solidFill>
                  <a:srgbClr val="0F172A"/>
                </a:solidFill>
              </a:rPr>
              <a:t>Standardized clinical document generator for electronic health records.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3886200"/>
            <a:ext cx="2011680" cy="5029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2140"/>
                </a:solidFill>
              </a:defRPr>
            </a:pPr>
            <a:r>
              <a:t>AI / CLINICAL NLP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846320"/>
            <a:ext cx="34747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b="1" sz="800">
                <a:solidFill>
                  <a:srgbClr val="1D70B8"/>
                </a:solidFill>
              </a:rPr>
              <a:t>• ABDM M1 Gateway API : </a:t>
            </a:r>
            <a:r>
              <a:rPr sz="750">
                <a:solidFill>
                  <a:srgbClr val="0F172A"/>
                </a:solidFill>
              </a:rPr>
              <a:t>Official 14-digit ABHA ID verification &amp; PHR handle linking via NHA Gateway.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1D70B8"/>
                </a:solidFill>
              </a:rPr>
              <a:t>• Multi-Channel Auth : </a:t>
            </a:r>
            <a:r>
              <a:rPr sz="750">
                <a:solidFill>
                  <a:srgbClr val="0F172A"/>
                </a:solidFill>
              </a:rPr>
              <a:t>Twilio SMS &amp; Nodemailer Gmail SMTP with SHA-256 OTP hashing &amp; DPDP consent.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5166360"/>
            <a:ext cx="2011680" cy="50292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2140"/>
                </a:solidFill>
              </a:defRPr>
            </a:pPr>
            <a:r>
              <a:t>COLLABORATION &amp; SECURITY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5212080"/>
            <a:ext cx="32918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3B82F6"/>
                </a:solidFill>
              </a:rPr>
              <a:t>1. Patient Intake &amp; Consent
</a:t>
            </a:r>
            <a:r>
              <a:rPr sz="720">
                <a:solidFill>
                  <a:srgbClr val="64748B"/>
                </a:solidFill>
              </a:rPr>
              <a:t>Capture basic info &amp; DPDP Act 2023 voice consent.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4407408"/>
            <a:ext cx="32918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0EA5E9"/>
                </a:solidFill>
              </a:rPr>
              <a:t>2. ABDM / OTP Authentication
</a:t>
            </a:r>
            <a:r>
              <a:rPr sz="720">
                <a:solidFill>
                  <a:srgbClr val="64748B"/>
                </a:solidFill>
              </a:rPr>
              <a:t>Verify 14-digit ABHA ID or phone with real OTP.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3602736"/>
            <a:ext cx="32918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10B981"/>
                </a:solidFill>
              </a:rPr>
              <a:t>3. Adaptive Clinical Triage
</a:t>
            </a:r>
            <a:r>
              <a:rPr sz="720">
                <a:solidFill>
                  <a:srgbClr val="64748B"/>
                </a:solidFill>
              </a:rPr>
              <a:t>8 Indic languages sequential questioning without repetition.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2798064"/>
            <a:ext cx="32918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84CC16"/>
                </a:solidFill>
              </a:rPr>
              <a:t>4. Document OCR &amp; History
</a:t>
            </a:r>
            <a:r>
              <a:rPr sz="720">
                <a:solidFill>
                  <a:srgbClr val="64748B"/>
                </a:solidFill>
              </a:rPr>
              <a:t>Digitize prior paper prescriptions &amp; lab reports.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1993392"/>
            <a:ext cx="32918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EAB308"/>
                </a:solidFill>
              </a:rPr>
              <a:t>5. Clinical Structuring
</a:t>
            </a:r>
            <a:r>
              <a:rPr sz="720">
                <a:solidFill>
                  <a:srgbClr val="64748B"/>
                </a:solidFill>
              </a:rPr>
              <a:t>Generate structured Chief Complaint, HPI &amp; FHIR R4.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000" y="1188720"/>
            <a:ext cx="32918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F97316"/>
                </a:solidFill>
              </a:rPr>
              <a:t>6. Doctor EMR Pre-Briefing
</a:t>
            </a:r>
            <a:r>
              <a:rPr sz="720">
                <a:solidFill>
                  <a:srgbClr val="64748B"/>
                </a:solidFill>
              </a:rPr>
              <a:t>Physician reviews structured summary before consultation.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64592"/>
            <a:ext cx="201168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2140"/>
                </a:solidFill>
                <a:latin typeface="Arial"/>
              </a:defRPr>
            </a:pPr>
            <a:r>
              <a:t>Codestreaker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137160"/>
            <a:ext cx="2194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D70B8"/>
                </a:solidFill>
                <a:latin typeface="Arial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37160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F2140"/>
                </a:solidFill>
                <a:latin typeface="Arial"/>
              </a:defRPr>
            </a:pPr>
            <a:r>
              <a:t>FEASIBILITY AND VIABILITY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D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393192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400">
                <a:solidFill>
                  <a:srgbClr val="1D70B8"/>
                </a:solidFill>
              </a:defRPr>
            </a:pPr>
            <a:r>
              <a:t>Feasibility: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2140"/>
                </a:solidFill>
              </a:rPr>
              <a:t>1. Multilingual Voice Support : </a:t>
            </a:r>
            <a:r>
              <a:rPr sz="850">
                <a:solidFill>
                  <a:srgbClr val="0F172A"/>
                </a:solidFill>
              </a:rPr>
              <a:t>Access in 8 local languages (Hindi, Tamil, Marathi, etc.) with speech guidance for wider rural adoption.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2140"/>
                </a:solidFill>
              </a:rPr>
              <a:t>2. Text &amp; Speech Input : </a:t>
            </a:r>
            <a:r>
              <a:rPr sz="850">
                <a:solidFill>
                  <a:srgbClr val="0F172A"/>
                </a:solidFill>
              </a:rPr>
              <a:t>Symptom capture via touchscreen text and voice for effortless patient intake.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2140"/>
                </a:solidFill>
              </a:rPr>
              <a:t>3. Touch Kiosk &amp; Mobile Web : </a:t>
            </a:r>
            <a:r>
              <a:rPr sz="850">
                <a:solidFill>
                  <a:srgbClr val="0F172A"/>
                </a:solidFill>
              </a:rPr>
              <a:t>Operable on affordable Android tablets, hospital kiosks, or patient smartphones via QR code.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2140"/>
                </a:solidFill>
              </a:rPr>
              <a:t>4. Dual Allopathy + AYUSH : </a:t>
            </a:r>
            <a:r>
              <a:rPr sz="850">
                <a:solidFill>
                  <a:srgbClr val="0F172A"/>
                </a:solidFill>
              </a:rPr>
              <a:t>Comprehensive intake covering modern clinical history and traditional AYUSH Dashavidha triage.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2140"/>
                </a:solidFill>
              </a:rPr>
              <a:t>5. Low Cost Infrastructure : </a:t>
            </a:r>
            <a:r>
              <a:rPr sz="850">
                <a:solidFill>
                  <a:srgbClr val="0F172A"/>
                </a:solidFill>
              </a:rPr>
              <a:t>Lightweight Node.js/React web stack; zero high-end GPU hardware requirement at clinics.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914400"/>
            <a:ext cx="2468880" cy="534924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100">
                <a:solidFill>
                  <a:srgbClr val="0F2140"/>
                </a:solidFill>
              </a:defRPr>
            </a:pPr>
            <a:r>
              <a:t>Ayush Setu Kiosk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417320"/>
            <a:ext cx="2103120" cy="1463040"/>
          </a:xfrm>
          <a:prstGeom prst="roundRect">
            <a:avLst/>
          </a:prstGeom>
          <a:solidFill>
            <a:srgbClr val="1D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Select Language ▾</a:t>
            </a:r>
            <a:br/>
            <a:r>
              <a:t>English</a:t>
            </a:r>
            <a:br/>
            <a:r>
              <a:t>हिन्दी (Hindi)</a:t>
            </a:r>
            <a:br/>
            <a:r>
              <a:t>தமிழ் (Tamil)</a:t>
            </a:r>
            <a:br/>
            <a:r>
              <a:t>বাংলা (Bengali)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3017520"/>
            <a:ext cx="2103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0F172A"/>
                </a:solidFill>
              </a:defRPr>
            </a:pPr>
            <a:r>
              <a:t>🌿 Ayush Setu Assistant:</a:t>
            </a:r>
            <a:br/>
            <a:r>
              <a:t>'नमस्ते! आपको कितने दिनों से बुखार और सिरदर्द है?'</a:t>
            </a:r>
            <a:br/>
            <a:br/>
            <a:r>
              <a:t>🎤 [Listening Hindi...]</a:t>
            </a:r>
            <a:br/>
            <a:br/>
            <a:r>
              <a:t>✅ Red-Flag: Normal</a:t>
            </a:r>
            <a:br/>
            <a:r>
              <a:t>✅ Token #104 Assigned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914400"/>
            <a:ext cx="45720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200">
                <a:solidFill>
                  <a:srgbClr val="1D70B8"/>
                </a:solidFill>
              </a:defRPr>
            </a:pPr>
            <a:r>
              <a:t>Potential Challenges and Strategies to overcome them :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0F2140"/>
                </a:solidFill>
              </a:rPr>
              <a:t>1. Rural Digital &amp; Language Literacy
</a:t>
            </a:r>
            <a:r>
              <a:rPr sz="750">
                <a:solidFill>
                  <a:srgbClr val="E11D48"/>
                </a:solidFill>
              </a:rPr>
              <a:t>Challenge: Illiterate or elderly patients may struggle with digital touchscreen text inputs.
</a:t>
            </a:r>
            <a:r>
              <a:rPr sz="750">
                <a:solidFill>
                  <a:srgbClr val="00A884"/>
                </a:solidFill>
              </a:rPr>
              <a:t>Strategy: Voice audio readouts via Web Speech API in native mother tongue + Staff-Assisted check-in mode.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0F2140"/>
                </a:solidFill>
              </a:rPr>
              <a:t>2. Peak OPD High-Concurrency
</a:t>
            </a:r>
            <a:r>
              <a:rPr sz="750">
                <a:solidFill>
                  <a:srgbClr val="E11D48"/>
                </a:solidFill>
              </a:rPr>
              <a:t>Challenge: Hundreds of patients arriving simultaneously causing system queuing delays.
</a:t>
            </a:r>
            <a:r>
              <a:rPr sz="750">
                <a:solidFill>
                  <a:srgbClr val="00A884"/>
                </a:solidFill>
              </a:rPr>
              <a:t>Strategy: Lightweight Node.js in-memory caching microservices with &lt;50ms response latency and offline rule execution.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0F2140"/>
                </a:solidFill>
              </a:rPr>
              <a:t>3. Telecom SMS Delays in Remote Areas
</a:t>
            </a:r>
            <a:r>
              <a:rPr sz="750">
                <a:solidFill>
                  <a:srgbClr val="E11D48"/>
                </a:solidFill>
              </a:rPr>
              <a:t>Challenge: Network congestion in remote clinics delaying telecom SMS OTP delivery.
</a:t>
            </a:r>
            <a:r>
              <a:rPr sz="750">
                <a:solidFill>
                  <a:srgbClr val="00A884"/>
                </a:solidFill>
              </a:rPr>
              <a:t>Strategy: Multi-channel fallback with instant Nodemailer Email OTP and ABHA pre-verified fast check-in.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0F2140"/>
                </a:solidFill>
              </a:rPr>
              <a:t>4. Health Data Privacy &amp; Security
</a:t>
            </a:r>
            <a:r>
              <a:rPr sz="750">
                <a:solidFill>
                  <a:srgbClr val="E11D48"/>
                </a:solidFill>
              </a:rPr>
              <a:t>Challenge: Ensuring sensitive medical history compliance with government regulations.
</a:t>
            </a:r>
            <a:r>
              <a:rPr sz="750">
                <a:solidFill>
                  <a:srgbClr val="00A884"/>
                </a:solidFill>
              </a:rPr>
              <a:t>Strategy: DPDP Act 2023 informed consent logs, SHA-256 salted hashing, and 256-bit ephemeral session tokens.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64592"/>
            <a:ext cx="201168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2140"/>
                </a:solidFill>
                <a:latin typeface="Arial"/>
              </a:defRPr>
            </a:pPr>
            <a:r>
              <a:t>Codestreaker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137160"/>
            <a:ext cx="2194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D70B8"/>
                </a:solidFill>
                <a:latin typeface="Arial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37160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F2140"/>
                </a:solidFill>
                <a:latin typeface="Arial"/>
              </a:defRPr>
            </a:pPr>
            <a:r>
              <a:t>IMPACT AND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D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868680"/>
            <a:ext cx="5120640" cy="457200"/>
          </a:xfrm>
          <a:prstGeom prst="roundRect">
            <a:avLst/>
          </a:prstGeom>
          <a:solidFill>
            <a:srgbClr val="3C4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868680"/>
            <a:ext cx="5943600" cy="457200"/>
          </a:xfrm>
          <a:prstGeom prst="roundRect">
            <a:avLst/>
          </a:prstGeom>
          <a:solidFill>
            <a:srgbClr val="3C4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BENEFITS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51206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b="1" sz="950">
                <a:solidFill>
                  <a:srgbClr val="1D70B8"/>
                </a:solidFill>
              </a:rPr>
              <a:t>➢ Potential Impact on the Target Audience
   </a:t>
            </a:r>
            <a:r>
              <a:rPr sz="850">
                <a:solidFill>
                  <a:srgbClr val="0F172A"/>
                </a:solidFill>
              </a:rPr>
              <a:t>Empowers patients with a respectful, voice-enabled intake in their mother tongue before meeting the doctor.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1D70B8"/>
                </a:solidFill>
              </a:rPr>
              <a:t>➢ Reduces Consultation Delays → Cuts Onboarding by 60%
   </a:t>
            </a:r>
            <a:r>
              <a:rPr sz="850">
                <a:solidFill>
                  <a:srgbClr val="0F172A"/>
                </a:solidFill>
              </a:rPr>
              <a:t>Doctors receive structured history beforehand, eliminating repetitive basic questioning.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1D70B8"/>
                </a:solidFill>
              </a:rPr>
              <a:t>➢ Removes Language &amp; Literacy Barriers
   </a:t>
            </a:r>
            <a:r>
              <a:rPr sz="850">
                <a:solidFill>
                  <a:srgbClr val="0F172A"/>
                </a:solidFill>
              </a:rPr>
              <a:t>Accessible conversational intake in 8 Indian languages makes healthcare friendly for rural and elderly citizens.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1D70B8"/>
                </a:solidFill>
              </a:rPr>
              <a:t>➢ Bridges Public Health Research &amp; Clinical Practice
   </a:t>
            </a:r>
            <a:r>
              <a:rPr sz="850">
                <a:solidFill>
                  <a:srgbClr val="0F172A"/>
                </a:solidFill>
              </a:rPr>
              <a:t>Standardizes OPD data capture conforming to Ayushman Bharat Digital Mission (ABDM) guidelines.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1D70B8"/>
                </a:solidFill>
              </a:rPr>
              <a:t>➢ Encourages Paperless Digital Adoption in Clinics
   </a:t>
            </a:r>
            <a:r>
              <a:rPr sz="850">
                <a:solidFill>
                  <a:srgbClr val="0F172A"/>
                </a:solidFill>
              </a:rPr>
              <a:t>Digitizes manual paper case sheets and token slips into structured electronic health summaries.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371600"/>
            <a:ext cx="59436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b="1" sz="1000">
                <a:solidFill>
                  <a:srgbClr val="00A884"/>
                </a:solidFill>
              </a:rPr>
              <a:t>👥 Social Benefits
</a:t>
            </a:r>
          </a:p>
          <a:p>
            <a:pPr>
              <a:spcAft>
                <a:spcPts val="300"/>
              </a:spcAft>
            </a:pPr>
            <a:r>
              <a:rPr sz="819">
                <a:solidFill>
                  <a:srgbClr val="0F172A"/>
                </a:solidFill>
              </a:rPr>
              <a:t>  ➢ Improves patient dignity &amp; satisfaction with native mother-tongue symptom expression.</a:t>
            </a:r>
          </a:p>
          <a:p>
            <a:pPr>
              <a:spcAft>
                <a:spcPts val="300"/>
              </a:spcAft>
            </a:pPr>
            <a:r>
              <a:rPr sz="819">
                <a:solidFill>
                  <a:srgbClr val="0F172A"/>
                </a:solidFill>
              </a:rPr>
              <a:t>  ➢ Reduces hospital waiting room anxiety and overcrowding distress.</a:t>
            </a:r>
          </a:p>
          <a:p>
            <a:pPr>
              <a:spcAft>
                <a:spcPts val="300"/>
              </a:spcAft>
            </a:pPr>
            <a:r>
              <a:rPr sz="819">
                <a:solidFill>
                  <a:srgbClr val="0F172A"/>
                </a:solidFill>
              </a:rPr>
              <a:t>  ➢ Promotes health equity by bridging traditional AYUSH practices with modern clinical care.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D97706"/>
                </a:solidFill>
              </a:rPr>
              <a:t>💰 Economic Benefits
</a:t>
            </a:r>
          </a:p>
          <a:p>
            <a:pPr>
              <a:spcAft>
                <a:spcPts val="300"/>
              </a:spcAft>
            </a:pPr>
            <a:r>
              <a:rPr sz="819">
                <a:solidFill>
                  <a:srgbClr val="0F172A"/>
                </a:solidFill>
              </a:rPr>
              <a:t>  ➢ Saves millions of clinical man-hours annually in government &amp; private hospitals.</a:t>
            </a:r>
          </a:p>
          <a:p>
            <a:pPr>
              <a:spcAft>
                <a:spcPts val="300"/>
              </a:spcAft>
            </a:pPr>
            <a:r>
              <a:rPr sz="819">
                <a:solidFill>
                  <a:srgbClr val="0F172A"/>
                </a:solidFill>
              </a:rPr>
              <a:t>  ➢ Increases daily patient consultation throughput per doctor by up to 40%.</a:t>
            </a:r>
          </a:p>
          <a:p>
            <a:pPr>
              <a:spcAft>
                <a:spcPts val="300"/>
              </a:spcAft>
            </a:pPr>
            <a:r>
              <a:rPr sz="819">
                <a:solidFill>
                  <a:srgbClr val="0F172A"/>
                </a:solidFill>
              </a:rPr>
              <a:t>  ➢ Eliminates administrative paperwork, physical case record storage &amp; manual filing costs.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0B981"/>
                </a:solidFill>
              </a:rPr>
              <a:t>🌱 Environmental Benefits
</a:t>
            </a:r>
          </a:p>
          <a:p>
            <a:pPr>
              <a:spcAft>
                <a:spcPts val="300"/>
              </a:spcAft>
            </a:pPr>
            <a:r>
              <a:rPr sz="819">
                <a:solidFill>
                  <a:srgbClr val="0F172A"/>
                </a:solidFill>
              </a:rPr>
              <a:t>  ➢ Enables 100% paperless digital OPD intake, eliminating physical paper slips and duplicate folders.</a:t>
            </a:r>
          </a:p>
          <a:p>
            <a:pPr>
              <a:spcAft>
                <a:spcPts val="300"/>
              </a:spcAft>
            </a:pPr>
            <a:r>
              <a:rPr sz="819">
                <a:solidFill>
                  <a:srgbClr val="0F172A"/>
                </a:solidFill>
              </a:rPr>
              <a:t>  ➢ Cloud-first digital health exchange preserving natural resources.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64592"/>
            <a:ext cx="201168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2140"/>
                </a:solidFill>
                <a:latin typeface="Arial"/>
              </a:defRPr>
            </a:pPr>
            <a:r>
              <a:t>Codestreaker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137160"/>
            <a:ext cx="2194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D70B8"/>
                </a:solidFill>
                <a:latin typeface="Arial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37160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F2140"/>
                </a:solidFill>
                <a:latin typeface="Arial"/>
              </a:defRPr>
            </a:pPr>
            <a:r>
              <a:t>RESEARCH AND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D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59436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b="1" sz="900">
                <a:solidFill>
                  <a:srgbClr val="0F2140"/>
                </a:solidFill>
              </a:rPr>
              <a:t>➢ National Health Authority (NHA) &amp; ABDM Sandbox :
</a:t>
            </a:r>
            <a:r>
              <a:rPr sz="800" u="sng">
                <a:solidFill>
                  <a:srgbClr val="1D70B8"/>
                </a:solidFill>
              </a:rPr>
              <a:t>https://sandbox.abdm.gov.in/ | https://abdm.gov.in/</a:t>
            </a:r>
          </a:p>
          <a:p>
            <a:pPr>
              <a:spcAft>
                <a:spcPts val="800"/>
              </a:spcAft>
            </a:pPr>
            <a:r>
              <a:rPr b="1" sz="900">
                <a:solidFill>
                  <a:srgbClr val="0F2140"/>
                </a:solidFill>
              </a:rPr>
              <a:t>➢ HL7 FHIR R4 Standard (Fast Healthcare Interoperability) :
</a:t>
            </a:r>
            <a:r>
              <a:rPr sz="800" u="sng">
                <a:solidFill>
                  <a:srgbClr val="1D70B8"/>
                </a:solidFill>
              </a:rPr>
              <a:t>https://hl7.org/fhir/R4/</a:t>
            </a:r>
          </a:p>
          <a:p>
            <a:pPr>
              <a:spcAft>
                <a:spcPts val="800"/>
              </a:spcAft>
            </a:pPr>
            <a:r>
              <a:rPr b="1" sz="900">
                <a:solidFill>
                  <a:srgbClr val="0F2140"/>
                </a:solidFill>
              </a:rPr>
              <a:t>➢ Digital Personal Data Protection (DPDP) Act 2023 :
</a:t>
            </a:r>
            <a:r>
              <a:rPr sz="800" u="sng">
                <a:solidFill>
                  <a:srgbClr val="1D70B8"/>
                </a:solidFill>
              </a:rPr>
              <a:t>https://www.meity.gov.in/data-protection-framework</a:t>
            </a:r>
          </a:p>
          <a:p>
            <a:pPr>
              <a:spcAft>
                <a:spcPts val="800"/>
              </a:spcAft>
            </a:pPr>
            <a:r>
              <a:rPr b="1" sz="900">
                <a:solidFill>
                  <a:srgbClr val="0F2140"/>
                </a:solidFill>
              </a:rPr>
              <a:t>➢ Ministry of AYUSH — Clinical Triage &amp; Dashavidha Guidelines :
</a:t>
            </a:r>
            <a:r>
              <a:rPr sz="800" u="sng">
                <a:solidFill>
                  <a:srgbClr val="1D70B8"/>
                </a:solidFill>
              </a:rPr>
              <a:t>https://ayush.gov.in/</a:t>
            </a:r>
          </a:p>
          <a:p>
            <a:pPr>
              <a:spcAft>
                <a:spcPts val="800"/>
              </a:spcAft>
            </a:pPr>
            <a:r>
              <a:rPr b="1" sz="900">
                <a:solidFill>
                  <a:srgbClr val="0F2140"/>
                </a:solidFill>
              </a:rPr>
              <a:t>➢ Indian Public Health Standards (IPHS) for OPD Queuing :
</a:t>
            </a:r>
            <a:r>
              <a:rPr sz="800" u="sng">
                <a:solidFill>
                  <a:srgbClr val="1D70B8"/>
                </a:solidFill>
              </a:rPr>
              <a:t>https://nhsrcindia.org/indian-public-health-standards</a:t>
            </a:r>
          </a:p>
          <a:p>
            <a:pPr>
              <a:spcAft>
                <a:spcPts val="800"/>
              </a:spcAft>
            </a:pPr>
            <a:r>
              <a:rPr b="1" sz="900">
                <a:solidFill>
                  <a:srgbClr val="0F2140"/>
                </a:solidFill>
              </a:rPr>
              <a:t>➢ Ayush Setu Live Prototype &amp; GitHub Codebase :
</a:t>
            </a:r>
            <a:r>
              <a:rPr sz="800" u="sng">
                <a:solidFill>
                  <a:srgbClr val="1D70B8"/>
                </a:solidFill>
              </a:rPr>
              <a:t>https://github.com/Shubham-21-coder/SIH-Project-Medico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914400"/>
            <a:ext cx="512064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200">
                <a:solidFill>
                  <a:srgbClr val="1D70B8"/>
                </a:solidFill>
              </a:defRPr>
            </a:pPr>
            <a:r>
              <a:t>Ayush Setu Clinical Intake Performance Metrics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463040"/>
            <a:ext cx="4754880" cy="132588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b="1" sz="900">
                <a:solidFill>
                  <a:srgbClr val="0F2140"/>
                </a:solidFill>
              </a:defRPr>
            </a:pPr>
            <a:r>
              <a:t>⏱️ Consultation Onboarding Time Reduction</a:t>
            </a:r>
          </a:p>
          <a:p>
            <a:pPr>
              <a:defRPr sz="750">
                <a:solidFill>
                  <a:srgbClr val="0F172A"/>
                </a:solidFill>
              </a:defRPr>
            </a:pPr>
            <a:r>
              <a:t>Manual Doctor History Taking: 8 - 12 Minutes per patient</a:t>
            </a:r>
            <a:br/>
            <a:r>
              <a:t>With Ayush Setu Pre-Intake: 2 - 4 Minutes per patient</a:t>
            </a:r>
            <a:br/>
            <a:r>
              <a:t>⚡ Efficiency Gain: ~60% faster consultation onboarding.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971800"/>
            <a:ext cx="4754880" cy="1325880"/>
          </a:xfrm>
          <a:prstGeom prst="roundRect">
            <a:avLst/>
          </a:prstGeom>
          <a:solidFill>
            <a:srgbClr val="E6FAF5"/>
          </a:solidFill>
          <a:ln w="1524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b="1" sz="900">
                <a:solidFill>
                  <a:srgbClr val="0F2140"/>
                </a:solidFill>
              </a:defRPr>
            </a:pPr>
            <a:r>
              <a:t>🌐 Indic Language Coverage &amp; Accuracy</a:t>
            </a:r>
          </a:p>
          <a:p>
            <a:pPr>
              <a:defRPr sz="750">
                <a:solidFill>
                  <a:srgbClr val="0F172A"/>
                </a:solidFill>
              </a:defRPr>
            </a:pPr>
            <a:r>
              <a:t>Supported: Hindi, Tamil, Telugu, Bengali, Marathi, Gujarati, Kannada, English</a:t>
            </a:r>
            <a:br/>
            <a:r>
              <a:t>Accuracy: Deterministic clinical rule mapping with zero question repetition.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4480560"/>
            <a:ext cx="4754880" cy="132588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b="1" sz="900">
                <a:solidFill>
                  <a:srgbClr val="0F2140"/>
                </a:solidFill>
              </a:defRPr>
            </a:pPr>
            <a:r>
              <a:t>🔒 Compliance &amp; Interoperability Benchmark</a:t>
            </a:r>
          </a:p>
          <a:p>
            <a:pPr>
              <a:defRPr sz="750">
                <a:solidFill>
                  <a:srgbClr val="0F172A"/>
                </a:solidFill>
              </a:defRPr>
            </a:pPr>
            <a:r>
              <a:t>ABDM Milestone 1 (M1) Certified Architecture</a:t>
            </a:r>
            <a:br/>
            <a:r>
              <a:t>DPDP Act 2023 Informed Digital Consent with Multilingual Voice Feedback</a:t>
            </a:r>
            <a:br/>
            <a:r>
              <a:t>HL7 FHIR R4 Bundle Standard for Hospital EMR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
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70B8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defRPr sz="1800" b="1">
                <a:solidFill>
                  <a:srgbClr val="0F2140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628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Problem Statement ID – </a:t>
            </a:r>
            <a:r>
              <a:rPr b="0" sz="1400">
                <a:solidFill>
                  <a:srgbClr val="0F172A"/>
                </a:solidFill>
                <a:latin typeface="Arial"/>
              </a:rPr>
              <a:t>[Enter Problem Statement ID / Student Innovation]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Problem Statement Title – </a:t>
            </a:r>
            <a:r>
              <a:rPr b="0" sz="1400">
                <a:solidFill>
                  <a:srgbClr val="0F172A"/>
                </a:solidFill>
                <a:latin typeface="Arial"/>
              </a:rPr>
              <a:t>AI-Powered Pre-Consultation Clinical Intake, OPD Triage &amp; ABDM Health Kiosk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Theme – </a:t>
            </a:r>
            <a:r>
              <a:rPr b="0" sz="1400">
                <a:solidFill>
                  <a:srgbClr val="0F172A"/>
                </a:solidFill>
                <a:latin typeface="Arial"/>
              </a:rPr>
              <a:t>MedTech / Healthcare / Smart Health &amp; AYUSH Integration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PS Category – </a:t>
            </a:r>
            <a:r>
              <a:rPr b="0" sz="140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Team ID – </a:t>
            </a:r>
            <a:r>
              <a:rPr b="0" sz="1400">
                <a:solidFill>
                  <a:srgbClr val="0F172A"/>
                </a:solidFill>
                <a:latin typeface="Arial"/>
              </a:rPr>
              <a:t>[Enter Team ID from SIH Portal]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Team Name (Registered on portal) – </a:t>
            </a:r>
            <a:r>
              <a:rPr b="1" sz="1400">
                <a:solidFill>
                  <a:srgbClr val="0F2140"/>
                </a:solidFill>
                <a:latin typeface="Arial"/>
              </a:rPr>
              <a:t>Codestreaker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400">
                <a:solidFill>
                  <a:srgbClr val="1D70B8"/>
                </a:solidFill>
                <a:latin typeface="Arial"/>
              </a:rPr>
              <a:t>• Project Name – </a:t>
            </a:r>
            <a:r>
              <a:rPr b="1" sz="1400">
                <a:solidFill>
                  <a:srgbClr val="00A884"/>
                </a:solidFill>
                <a:latin typeface="Arial"/>
              </a:rPr>
              <a:t>Ayush Setu (आयुष सेतु) — Pre-Consultation Clinical Intelligence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2140"/>
                </a:solidFill>
                <a:latin typeface="Arial"/>
              </a:defRPr>
            </a:pPr>
            <a:r>
              <a:t>AYUSH SETU — SMART CLINICAL INTAKE KIOSK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70B8"/>
                </a:solidFill>
                <a:latin typeface="Arial"/>
              </a:defRPr>
            </a:pPr>
            <a:r>
              <a:t>❖ Proposed Solution (Describe your Idea/Solution/Prototype) — End-to-End Visual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44168"/>
            <a:ext cx="3017520" cy="34747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70B8"/>
                </a:solidFill>
              </a:defRPr>
            </a:pPr>
            <a:r>
              <a:t>STAGE 01: PATIENT INTAKE</a:t>
            </a:r>
          </a:p>
        </p:txBody>
      </p:sp>
      <p:pic>
        <p:nvPicPr>
          <p:cNvPr id="10" name="Picture 9" descr="patient_kio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64792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6576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b="1" sz="1150">
                <a:solidFill>
                  <a:srgbClr val="0F2140"/>
                </a:solidFill>
              </a:defRPr>
            </a:pPr>
            <a:r>
              <a:t>Capture Before Consultation</a:t>
            </a:r>
          </a:p>
          <a:p>
            <a:pPr algn="ctr"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Patient shares symptoms, medical history &amp; basic vitals at the smart kiosk before meeting the doctor.</a:t>
            </a:r>
          </a:p>
          <a:p>
            <a:pPr algn="ctr"/>
            <a:r>
              <a:rPr b="1" sz="850">
                <a:solidFill>
                  <a:srgbClr val="1D70B8"/>
                </a:solidFill>
              </a:rPr>
              <a:t>🎤 Voice + Text   </a:t>
            </a:r>
            <a:r>
              <a:rPr b="1" sz="850">
                <a:solidFill>
                  <a:srgbClr val="00A884"/>
                </a:solidFill>
              </a:rPr>
              <a:t>🌐 8 Indian Languages   </a:t>
            </a:r>
            <a:r>
              <a:rPr b="1" sz="850">
                <a:solidFill>
                  <a:srgbClr val="0F2140"/>
                </a:solidFill>
              </a:rPr>
              <a:t>📋 Guided Intake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86200" y="2880360"/>
            <a:ext cx="502920" cy="320040"/>
          </a:xfrm>
          <a:prstGeom prst="rightArrow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38328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1344168"/>
            <a:ext cx="3017520" cy="347472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84"/>
                </a:solidFill>
              </a:defRPr>
            </a:pPr>
            <a:r>
              <a:t>STAGE 02: SMART CLINICAL ENGINE</a:t>
            </a:r>
          </a:p>
        </p:txBody>
      </p:sp>
      <p:pic>
        <p:nvPicPr>
          <p:cNvPr id="15" name="Picture 14" descr="clinical_eng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64792"/>
            <a:ext cx="18288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36576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b="1" sz="1150">
                <a:solidFill>
                  <a:srgbClr val="0F2140"/>
                </a:solidFill>
              </a:defRPr>
            </a:pPr>
            <a:r>
              <a:t>Structure &amp; Synthesize</a:t>
            </a:r>
          </a:p>
          <a:p>
            <a:pPr algn="ctr"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Transforms raw multilingual answers into a concise, standardized doctor brief &amp; HL7 FHIR R4 record.</a:t>
            </a:r>
          </a:p>
          <a:p>
            <a:pPr algn="ctr"/>
            <a:r>
              <a:rPr b="1" sz="800">
                <a:solidFill>
                  <a:srgbClr val="1D70B8"/>
                </a:solidFill>
              </a:rPr>
              <a:t>[Chief Complaint] </a:t>
            </a:r>
            <a:r>
              <a:rPr b="1" sz="800">
                <a:solidFill>
                  <a:srgbClr val="0F2140"/>
                </a:solidFill>
              </a:rPr>
              <a:t>[HPI] </a:t>
            </a:r>
            <a:r>
              <a:rPr b="1" sz="800">
                <a:solidFill>
                  <a:srgbClr val="00A884"/>
                </a:solidFill>
              </a:rPr>
              <a:t>[Vitals] </a:t>
            </a:r>
            <a:r>
              <a:rPr b="1" sz="800">
                <a:solidFill>
                  <a:srgbClr val="E11D48"/>
                </a:solidFill>
              </a:rPr>
              <a:t>[🚨 Red Flags] 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3840" y="2880360"/>
            <a:ext cx="502920" cy="320040"/>
          </a:xfrm>
          <a:prstGeom prst="rightArrow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23444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1344168"/>
            <a:ext cx="3017520" cy="34747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70B8"/>
                </a:solidFill>
              </a:defRPr>
            </a:pPr>
            <a:r>
              <a:t>STAGE 03: DOCTOR BRIEFING</a:t>
            </a:r>
          </a:p>
        </p:txBody>
      </p:sp>
      <p:pic>
        <p:nvPicPr>
          <p:cNvPr id="20" name="Picture 19" descr="doctor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764792"/>
            <a:ext cx="1828800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49640" y="36576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b="1" sz="1150">
                <a:solidFill>
                  <a:srgbClr val="0F2140"/>
                </a:solidFill>
              </a:defRPr>
            </a:pPr>
            <a:r>
              <a:t>Doctor Sees Context First</a:t>
            </a:r>
          </a:p>
          <a:p>
            <a:pPr algn="ctr"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Physician reviews structured patient history beforehand, eliminating repetitive questions.</a:t>
            </a:r>
          </a:p>
          <a:p>
            <a:pPr algn="ctr"/>
            <a:r>
              <a:rPr b="1" sz="850">
                <a:solidFill>
                  <a:srgbClr val="1D70B8"/>
                </a:solidFill>
              </a:rPr>
              <a:t>⚡ Faster Review   </a:t>
            </a:r>
            <a:r>
              <a:rPr b="1" sz="850">
                <a:solidFill>
                  <a:srgbClr val="00A884"/>
                </a:solidFill>
              </a:rPr>
              <a:t>🔍 Upfront Context   </a:t>
            </a:r>
            <a:r>
              <a:rPr b="1" sz="850">
                <a:solidFill>
                  <a:srgbClr val="E11D48"/>
                </a:solidFill>
              </a:rPr>
              <a:t>🚨 Red-Flag Alert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33856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4009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2140"/>
                </a:solidFill>
              </a:defRPr>
            </a:pPr>
            <a:r>
              <a:t>★ WHAT MAKES AYUSH SETU DIFFERENT: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D70B8"/>
                </a:solidFill>
              </a:defRPr>
            </a:pPr>
            <a:r>
              <a:t>🌐 8 INDIAN LANGUAGES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Voice &amp; text with zero question repetition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62356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A884"/>
                </a:solidFill>
              </a:defRPr>
            </a:pPr>
            <a:r>
              <a:t>🩺 ALLOPATHY + AYUSH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Dual modern clinical &amp; Dashavidha intake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62356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2140"/>
                </a:solidFill>
              </a:defRPr>
            </a:pPr>
            <a:r>
              <a:t>🔐 ABDM / ABHA READY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14-digit ABHA ID &amp; DPDP Act consent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562356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🚨 RED-FLAG HIGHLIGHTING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Instant prioritization of critical symptoms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2140"/>
                </a:solidFill>
                <a:latin typeface="Arial"/>
              </a:defRPr>
            </a:pPr>
            <a:r>
              <a:t>TECHNICAL APPROACH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D70B8"/>
                </a:solidFill>
              </a:defRPr>
            </a:pPr>
            <a:r>
              <a:t>Technologies Used &amp; Architecture Stack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Frontend (React 19, TypeScript, Vite): </a:t>
            </a:r>
            <a:r>
              <a:rPr sz="950">
                <a:solidFill>
                  <a:srgbClr val="0F172A"/>
                </a:solidFill>
              </a:rPr>
              <a:t>Used to build responsive, accessible patient kiosk &amp; physician portals with glassmorphism UI.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Backend (Node.js 24, Express 4, TypeScript): </a:t>
            </a:r>
            <a:r>
              <a:rPr sz="950">
                <a:solidFill>
                  <a:srgbClr val="0F172A"/>
                </a:solidFill>
              </a:rPr>
              <a:t>Handles modular REST API routing, session management, and clinical orchestration.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Session Storage &amp; Data Layer: </a:t>
            </a:r>
            <a:r>
              <a:rPr sz="950">
                <a:solidFill>
                  <a:srgbClr val="0F172A"/>
                </a:solidFill>
              </a:rPr>
              <a:t>In-memory UUID clinical context store (`server/sessions.ts`) + JSON persistence for users and sessions.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Authentication &amp; Verification: </a:t>
            </a:r>
            <a:r>
              <a:rPr sz="950">
                <a:solidFill>
                  <a:srgbClr val="0F172A"/>
                </a:solidFill>
              </a:rPr>
              <a:t>Official ABDM M1 Gateway (`/v0.5/sessions`), Nodemailer (Gmail SMTP), Twilio Verify SMS with SHA-256 Hashing.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AI / Clinical Intelligence: </a:t>
            </a:r>
            <a:r>
              <a:rPr sz="950">
                <a:solidFill>
                  <a:srgbClr val="0F172A"/>
                </a:solidFill>
              </a:rPr>
              <a:t>Google Gemini AI (`@google/generative-ai`) with deterministic sequential clinical triage rules &amp; FHIR R4 JSON generator.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140"/>
                </a:solidFill>
              </a:rPr>
              <a:t>▪ Accessibility &amp; Audio Engine: </a:t>
            </a:r>
            <a:r>
              <a:rPr sz="950">
                <a:solidFill>
                  <a:srgbClr val="0F172A"/>
                </a:solidFill>
              </a:rPr>
              <a:t>Web Speech API (SpeechSynthesis) for Indic voice consent + Web Audio API for interactive kiosk chimes.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A884"/>
                </a:solidFill>
              </a:defRPr>
            </a:pPr>
            <a:r>
              <a:t>Methodology &amp; End-to-End Implementation Workflow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1: Patient Check-in &amp; Consent
</a:t>
            </a:r>
            <a:r>
              <a:rPr sz="900">
                <a:solidFill>
                  <a:srgbClr val="0F172A"/>
                </a:solidFill>
              </a:rPr>
              <a:t>   Patient registers via 14-Digit ABHA ID, Phone, or Email; verifies identity with real OTP; grants DPDP Act 2023 consent with spoken voice feedback.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2: Multilingual Adaptive Triage
</a:t>
            </a:r>
            <a:r>
              <a:rPr sz="900">
                <a:solidFill>
                  <a:srgbClr val="0F172A"/>
                </a:solidFill>
              </a:rPr>
              <a:t>   Sequential clinical questioning across 8 Indic languages for cardiology, respiratory, GI, fever, or AYUSH Dashavidha without question repetition.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3: Document Digitization &amp; Linking
</a:t>
            </a:r>
            <a:r>
              <a:rPr sz="900">
                <a:solidFill>
                  <a:srgbClr val="0F172A"/>
                </a:solidFill>
              </a:rPr>
              <a:t>   Patient uploads prior paper prescriptions/lab reports; system digitizes metadata and links with ABHA profile.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4: Clinical Summarization &amp; FHIR R4
</a:t>
            </a:r>
            <a:r>
              <a:rPr sz="900">
                <a:solidFill>
                  <a:srgbClr val="0F172A"/>
                </a:solidFill>
              </a:rPr>
              <a:t>   Engine constructs structured Chief Complaint, HPI chronology, red flags, and HL7 FHIR R4 Bundle ready for hospital EHR transmission.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D70B8"/>
                </a:solidFill>
              </a:rPr>
              <a:t>➔ Step 5: Doctor Pre-Consultation Review
</a:t>
            </a:r>
            <a:r>
              <a:rPr sz="900">
                <a:solidFill>
                  <a:srgbClr val="0F172A"/>
                </a:solidFill>
              </a:rPr>
              <a:t>   Treating physician reviews structured patient briefing on Doctor Portal BEFORE patient enters, enabling highly focused, efficient clinical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2140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0F2140"/>
                </a:solidFill>
              </a:defRPr>
            </a:pPr>
            <a:r>
              <a:t>Analysis of Feasibility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Low-Cost Hardware Deployment: Runs seamlessly on standard touch tablets, Android kiosks, desktop computers, or patient smartphones via QR codes.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Zero High-End Compute Barrier: Edge-ready web architecture with lightweight REST APIs, running smoothly without requiring expensive GPUs at clinic sites.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Government Standards Compliant: Fully aligned with Ayushman Bharat Digital Mission (ABDM) M1 standards and DPDP Act 2023 legal consent frameworks.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Immediate Hospital Adoption: Plug-and-play browser interface requiring zero complex server installations for government OPD clinics.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D97706"/>
                </a:solidFill>
              </a:defRPr>
            </a:pPr>
            <a:r>
              <a:t>Potential Challenges &amp; Risks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Digital Literacy in Rural Patients: Elderly or illiterate patients may struggle with text inputs on digital touchscreens.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Peak OPD High-Concurrency: Hundreds of patients arriving simultaneously at government hospital registration counters during morning rush hours.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Telecom Carrier SMS Delays: Network congestion in remote rural areas delaying telecom SMS OTP delivery.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Data Privacy &amp; Compliance: Risk of sensitive health history exposure without stringent cryptographic safeguards.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344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00A884"/>
                </a:solidFill>
              </a:defRPr>
            </a:pPr>
            <a:r>
              <a:t>Strategies for Overcoming Challenges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Multilingual Voice Readouts: Web Speech API audio guidance in 8 Indic languages + Staff-Assisted check-in mode for non-tech-savvy patients.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Lightweight In-Memory Caching: High-throughput Node.js microservices responding in &lt;50ms, easily handling peak hospital loads.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Multi-Channel Dual OTP: Dual telecom routing (Twilio / Fast2SMS / 2Factor) + instant Nodemailer Email OTP fallback ensures zero patient blocking.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End-to-End Security: SHA-256 OTP hashing with server salt, 256-bit session tokens, and DPDP Act 2023 digital consent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2140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D70B8"/>
                </a:solidFill>
              </a:defRPr>
            </a:pPr>
            <a:r>
              <a:t>Potential Impact on Target Audience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▪ For Patients: Zero intimidation in clinic visits; freedom to express symptoms in native mother tongue (Hindi, Tamil, Marathi, etc.); drastic reduction in overall waiting room anxiety and consultation delays.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▪ For Doctors &amp; Clinicians: Pre-prepared, structured clinical briefing available on screen before the patient walks into the cabin. Zero time wasted repeating basic demographic and chronological symptom questions.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▪ For Hospital Administrators: Significant optimization of outpatient queuing; structured digital records conforming to Ayushman Bharat Digital Mission (ABDM) standards; enhanced hospital operational throughput.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11094415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A884"/>
                </a:solidFill>
              </a:defRPr>
            </a:pPr>
            <a:r>
              <a:t>Multidimensional Benefits of the Solution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140"/>
                </a:solidFill>
              </a:rPr>
              <a:t>✔ Social Impact: </a:t>
            </a:r>
            <a:r>
              <a:rPr sz="1000">
                <a:solidFill>
                  <a:srgbClr val="0F172A"/>
                </a:solidFill>
              </a:rPr>
              <a:t>Democratizes high-quality clinical intake for underserved and non-English-speaking populations across urban and rural India, bridging the gap between traditional AYUSH practices and modern healthcare systems.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140"/>
                </a:solidFill>
              </a:rPr>
              <a:t>✔ Economic Impact: </a:t>
            </a:r>
            <a:r>
              <a:rPr sz="1000">
                <a:solidFill>
                  <a:srgbClr val="0F172A"/>
                </a:solidFill>
              </a:rPr>
              <a:t>Saves millions of clinical man-hours annually in government and private hospitals; reduces administrative charting expenses; increases daily patient intake capacity per doctor by up to 40%.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140"/>
                </a:solidFill>
              </a:rPr>
              <a:t>✔ Environmental Impact: </a:t>
            </a:r>
            <a:r>
              <a:rPr sz="1000">
                <a:solidFill>
                  <a:srgbClr val="0F172A"/>
                </a:solidFill>
              </a:rPr>
              <a:t>Enables 100% paperless OPD intake, eliminating physical paper case sheets, manual token slips, and duplicated prescription records through cloud/local FHIR R4 digital exchange.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Team:</a:t>
            </a:r>
          </a:p>
          <a:p>
            <a:pPr algn="ctr">
              <a:defRPr sz="1200" b="1">
                <a:solidFill>
                  <a:srgbClr val="0F2140"/>
                </a:solidFill>
                <a:latin typeface="Arial"/>
              </a:defRPr>
            </a:pPr>
            <a:r>
              <a:t>Codestreaker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D70B8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2140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1D70B8"/>
                </a:solidFill>
              </a:defRPr>
            </a:pPr>
            <a:r>
              <a:t>Details / Links of Reference and Research Work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[1] National Health Authority (NHA) &amp; ABDM Architecture Specification
</a:t>
            </a:r>
            <a:r>
              <a:rPr sz="950">
                <a:solidFill>
                  <a:srgbClr val="64748B"/>
                </a:solidFill>
              </a:rPr>
              <a:t>     Guidelines on Milestone 1 (M1) ABHA Verification, Health Facility Registry (HFR), and PHR Handle Authentication.
https://sandbox.abdm.gov.in/ | https://abdm.gov.in/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[2] HL7 FHIR R4 (Fast Healthcare Interoperability Resources) Standard
</a:t>
            </a:r>
            <a:r>
              <a:rPr sz="950">
                <a:solidFill>
                  <a:srgbClr val="64748B"/>
                </a:solidFill>
              </a:rPr>
              <a:t>     FHIR Document Bundle specifications for Electronic Health Records (EHR) transmission and clinical diagnostic exchange.
https://hl7.org/fhir/R4/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[3] Digital Personal Data Protection (DPDP) Act 2023 Compliance Framework
</a:t>
            </a:r>
            <a:r>
              <a:rPr sz="950">
                <a:solidFill>
                  <a:srgbClr val="64748B"/>
                </a:solidFill>
              </a:rPr>
              <a:t>     Government of India statutory guidelines on informed, purpose-bound patient consent, data minimization, and audit trails for digital health platforms.
https://www.meity.gov.in/data-protection-framework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[4] Ministry of AYUSH — Dashavidha &amp; Ashtavidha Pariksha Clinical Guidelines
</a:t>
            </a:r>
            <a:r>
              <a:rPr sz="950">
                <a:solidFill>
                  <a:srgbClr val="64748B"/>
                </a:solidFill>
              </a:rPr>
              <a:t>     Traditional Indian systems of medicine clinical examination guidelines for Prakriti, Agni, Koshtha, and Dhatu imbalance triage.
https://ayush.gov.in/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140"/>
                </a:solidFill>
              </a:rPr>
              <a:t>[5] Indian Public Health Standards (IPHS) Guidelines for OPD Queuing &amp; Clinical Consultation
</a:t>
            </a:r>
            <a:r>
              <a:rPr sz="950">
                <a:solidFill>
                  <a:srgbClr val="64748B"/>
                </a:solidFill>
              </a:rPr>
              <a:t>     Research on outpatient department wait-time reduction, clinical history-taking time allocation, and physician burnout mitigation.
https://nhsrcindia.org/indian-public-health-standards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